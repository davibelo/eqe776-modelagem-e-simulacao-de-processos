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33"/>
  </p:notesMasterIdLst>
  <p:sldIdLst>
    <p:sldId id="256" r:id="rId3"/>
    <p:sldId id="257" r:id="rId4"/>
    <p:sldId id="258" r:id="rId5"/>
    <p:sldId id="259" r:id="rId6"/>
    <p:sldId id="273" r:id="rId7"/>
    <p:sldId id="274" r:id="rId8"/>
    <p:sldId id="260" r:id="rId9"/>
    <p:sldId id="275" r:id="rId10"/>
    <p:sldId id="276" r:id="rId11"/>
    <p:sldId id="261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8" r:id="rId22"/>
    <p:sldId id="286" r:id="rId23"/>
    <p:sldId id="289" r:id="rId24"/>
    <p:sldId id="290" r:id="rId25"/>
    <p:sldId id="291" r:id="rId26"/>
    <p:sldId id="292" r:id="rId27"/>
    <p:sldId id="293" r:id="rId28"/>
    <p:sldId id="295" r:id="rId29"/>
    <p:sldId id="296" r:id="rId30"/>
    <p:sldId id="271" r:id="rId31"/>
    <p:sldId id="272" r:id="rId32"/>
  </p:sldIdLst>
  <p:sldSz cx="10080625" cy="5670550"/>
  <p:notesSz cx="7772400" cy="100584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956" autoAdjust="0"/>
  </p:normalViewPr>
  <p:slideViewPr>
    <p:cSldViewPr snapToGrid="0">
      <p:cViewPr varScale="1">
        <p:scale>
          <a:sx n="88" d="100"/>
          <a:sy n="88" d="100"/>
        </p:scale>
        <p:origin x="10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A5930-CAD2-4434-B68E-14C069792D9C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E2A5BC-62EC-4436-9D37-871053325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53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alimentação de água tratada no estágio 7 serve como acréscimo de um refluxo líquido ao refluxo gerado pelopumparound além de uma seção de lavagem interna para remoção adicional de NH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406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B9BE5-F07E-40DC-C2FF-CA86A4F61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EA5A3A-1F0F-3B22-56D5-ECE9EE4545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FA3966-5F68-2251-AA34-286A5EDF1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alimentação de água tratada no estágio 7 serve como acréscimo de um refluxo líquido ao refluxo gerado pelopumparound além de uma seção de lavagem interna para remoção adicional de 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173C9-0AD1-D64B-51CC-8B525B042E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90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0FAB7-EE0C-D81D-C22D-B35DEBF6D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52080-A357-EFF6-EBE4-D27A1B90A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C41EC-0580-E25C-53E2-D62BAD0AE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alimentação de água tratada no estágio 7 serve como acréscimo de um refluxo líquido ao refluxo gerado pelopumparound além de uma seção de lavagem interna para remoção adicional de 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16D96-9E8F-B823-E8D3-4EF03D3704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71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299ED-B29C-A424-874E-03D602AE3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B1B9C-4B59-883F-FF6A-55EBB5B09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2BC958-0FA9-0A40-0522-E7DCF7AF2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alimentação de água tratada no estágio 7 serve como acréscimo de um refluxo líquido ao refluxo gerado pelopumparound além de uma seção de lavagem interna para remoção adicional de 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E5738-E2C1-D794-0F99-067B05DCF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27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28933-81C7-2765-72B5-7066C14B6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0B396-35DA-4908-EE6C-52BD2F990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E8600-B6EB-139A-1304-D94AF81D7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alimentação de água tratada no estágio 7 serve como acréscimo de um refluxo líquido ao refluxo gerado pelopumparound além de uma seção de lavagem interna para remoção adicional de 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709DB-A262-3860-3A19-5F1975582A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074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31F45-FFDA-AE02-38F1-67D953997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9F9875-A0D7-8BCE-909F-93812B1AF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51857C-FD3F-9AF6-0FBF-E9B54DBF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alimentação de água tratada no estágio 7 serve como acréscimo de um refluxo líquido ao refluxo gerado pelopumparound além de uma seção de lavagem interna para remoção adicional de 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E3968-AE75-A5E7-17E2-F579AC0BD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63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975ED-F5F2-348C-9CF9-9C49894A1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5E58AF-FDBB-4E0C-4684-3D9BD8864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B11706-D3EE-DC5E-5F53-FA349BE6C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alimentação de água tratada no estágio 7 serve como acréscimo de um refluxo líquido ao refluxo gerado pelopumparound além de uma seção de lavagem interna para remoção adicional de 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AA0F4-A637-FD89-7494-DD2381C62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746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BC2D3-24D9-86C4-CC1A-0AFC92AB7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5D76C5-531D-B50E-98F1-D766F22A6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1A52A-D8BD-476F-2804-F35800E53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alimentação de água tratada no estágio 7 serve como acréscimo de um refluxo líquido ao refluxo gerado pelopumparound além de uma seção de lavagem interna para remoção adicional de 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DDE87-9723-F08B-9EB1-30530BF6BF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24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2CDA4-261F-71EA-CDF3-E7A6064B8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FAE344-421F-7420-77E7-246E892F2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D1798-2B06-DBC4-B60F-B12085E39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Essa alimentação de água tratada no estágio 7 serve como acréscimo de um refluxo líquido ao refluxo gerado pelopumparound além de uma seção de lavagem interna para remoção adicional de 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A542FA-87F6-689B-8B90-090E6267B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26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DD6CC-C087-ECB0-21CC-4F43DD3EA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1FB2FC-E1F2-B230-5974-5A82D4492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8E2CF8-17A8-E06E-DB9F-3B3BE7094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028B4-5336-29C8-2E29-A44B26949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216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C6C67-0E86-1ACF-8AED-06BCD33F7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4D2BC-F45B-AAB4-00C5-CEC047D1D2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DACEF3-2B1A-9C31-6583-BEBA818E5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D2FEC-FBA6-ACD4-0041-ABD025302E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673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4A241-56C2-F492-AE25-09EDC042D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772369-20F7-6236-956D-838964FE9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835C7D-A562-02F2-B5BA-EE4737A1F7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5D938-A997-2DF3-2D86-BC5BEBC7A2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6949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98568-A2DE-72D9-9D0A-1FFC230D0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99D7C-1D60-86D7-DAB7-5B9559583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24601-1E27-4968-C71A-3C9676123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87C4C-6A13-5B32-3A39-2111BD45F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83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4DB23-8880-5363-607F-198D79BB8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870530-0030-25F6-A0ED-A171A8C37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02F571-9F54-6F2D-CE13-E0A45AFD6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3186F-3D78-2569-9C81-137B737FF0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585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E5DA1-F87C-AC7D-BD52-FAF278594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29C275-DB8D-87BE-8496-591957742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35ADCB-592C-C2C4-E876-C779071F0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CAE2F-D90A-C9FE-B92C-A4EC15D2F6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314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03DBE-984E-B1F9-9712-230F4547A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ED907A-64E0-2E99-3E19-BC6B9C3C8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CC822B-E782-FA5C-ABF0-9E7453961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B1ADC-810A-306D-AB95-B0E0954749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0911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0EE11-9914-7E6A-04B1-2D5BF3E5E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51F302-6B46-9AF8-1C82-812D992FE2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D69DFC-EFBE-B85C-2F8A-CFD1FCF24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A7D80-765F-8163-32EE-815CC56E5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752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B9205-FB7C-822D-6FDC-F268F49E0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BD5621-0880-3171-DC17-A8D2C8445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716120-4961-EA59-C70A-12661F5FB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0638E-FC0C-FFAD-2944-A09D01D72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E2A5BC-62EC-4436-9D37-87105332503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614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59797E3-CC94-4A76-8610-88CF4A6B2E0A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5EC2EEEB-A4C2-41BD-B22D-1FA1F9DA8D5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B5ED111-75EB-4FCE-9313-C26EAA848064}" type="slidenum"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CD9AA84-DF23-75D6-BB95-9061D9EF3CE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546989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CE4AD7D-09FF-47CC-99B8-F88D3E15F053}" type="slidenum"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D478E3F-D6EF-DA1D-3423-06CF150EC0F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546989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4400" b="0" u="none" strike="noStrike" dirty="0">
                <a:solidFill>
                  <a:srgbClr val="000000"/>
                </a:solidFill>
                <a:uFillTx/>
                <a:latin typeface="Arial"/>
              </a:rPr>
              <a:t>EQE776 – Trabalho Final</a:t>
            </a:r>
            <a:endParaRPr lang="en-US" sz="44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800" b="0" u="none" strike="noStrike" dirty="0">
                <a:solidFill>
                  <a:srgbClr val="000000"/>
                </a:solidFill>
                <a:uFillTx/>
                <a:latin typeface="Arial"/>
              </a:rPr>
              <a:t>Simulação Estática de uma Unidade de Tratamento de Águas Ácidas em Refinaria de Petróleo: Estudo da Torre Esgotadora de H2S</a:t>
            </a: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600" b="0" u="none" strike="noStrike" dirty="0">
                <a:solidFill>
                  <a:srgbClr val="000000"/>
                </a:solidFill>
                <a:uFillTx/>
                <a:latin typeface="Arial"/>
              </a:rPr>
              <a:t>Aluno: Francisco Davi Belo Rodrigues</a:t>
            </a:r>
            <a:endParaRPr lang="en-US" sz="26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2600" b="0" u="none" strike="noStrike" dirty="0">
                <a:solidFill>
                  <a:srgbClr val="000000"/>
                </a:solidFill>
                <a:uFillTx/>
                <a:latin typeface="Arial"/>
              </a:rPr>
              <a:t>2025-11</a:t>
            </a:r>
            <a:endParaRPr lang="en-US" sz="26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6" name="Imagem 15"/>
          <p:cNvPicPr/>
          <p:nvPr/>
        </p:nvPicPr>
        <p:blipFill>
          <a:blip r:embed="rId2"/>
          <a:stretch/>
        </p:blipFill>
        <p:spPr>
          <a:xfrm>
            <a:off x="4048963" y="4768920"/>
            <a:ext cx="2260440" cy="539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7000"/>
    </mc:Choice>
    <mc:Fallback xmlns="">
      <p:transition spd="slow" advClick="0" advTm="17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Introdução – Processo e Modelagem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134143" y="615960"/>
            <a:ext cx="9235143" cy="33729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Objetivo</a:t>
            </a: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Simular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uma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torre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de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esgotamento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de H2S de um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sistema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de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tratamento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de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águas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ácidas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de 2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torres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Avaliar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o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impacto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alterações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na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carga (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teor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contaminantes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vazão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e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temperatura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) no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limite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estabilidade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térmica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da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torre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ponto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máxima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recuperação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de H2S)</a:t>
            </a: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Obter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um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modelo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robusto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que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possa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ser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convertido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em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simulação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dinâmica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que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subsidiará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treinamentos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agentes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aprendizado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por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reforço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para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realizar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o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controle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do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sistema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.</a:t>
            </a:r>
            <a:endParaRPr lang="en-US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16000" lvl="1">
              <a:lnSpc>
                <a:spcPct val="100000"/>
              </a:lnSpc>
              <a:buClr>
                <a:srgbClr val="000000"/>
              </a:buClr>
              <a:buSzPct val="45000"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16000" lvl="1">
              <a:lnSpc>
                <a:spcPct val="100000"/>
              </a:lnSpc>
              <a:buClr>
                <a:srgbClr val="000000"/>
              </a:buClr>
              <a:buSzPct val="45000"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5152"/>
    </mc:Choice>
    <mc:Fallback xmlns="">
      <p:transition spd="slow" advClick="0" advTm="10515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Retângulo 25"/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Simulação: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Aspen Plus V14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Modelo Termodinâmico: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GPSWAT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522"/>
    </mc:Choice>
    <mc:Fallback xmlns="">
      <p:transition spd="slow" advTm="10552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Retângulo 28"/>
          <p:cNvSpPr/>
          <p:nvPr/>
        </p:nvSpPr>
        <p:spPr>
          <a:xfrm>
            <a:off x="147239" y="702000"/>
            <a:ext cx="9526848" cy="48083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Modelo Termodinâmico GPSWAT</a:t>
            </a:r>
          </a:p>
          <a:p>
            <a:pPr>
              <a:lnSpc>
                <a:spcPct val="100000"/>
              </a:lnSpc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Desenvolvido em 1990 pelo Gas Process Association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Específico para aplicações em sistemas de águas ácidas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Baseado em correções empíricas ajustadas a extensos bancos de equilíbrio de fases para soluções aquosas contendo eletrólitos fracos, incorporando os seguintes aspectos: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0EE09D-76FF-2212-DCB4-69360C3A1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5" y="2624826"/>
            <a:ext cx="7683661" cy="1765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714"/>
    </mc:Choice>
    <mc:Fallback xmlns="">
      <p:transition spd="slow" advTm="5471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2FA39-312C-18AE-A8A9-E5200F140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E5B4DBE6-A043-DF4A-50C9-8A8670164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16F7BFAA-BC59-FB52-D991-D60A049376C9}"/>
              </a:ext>
            </a:extLst>
          </p:cNvPr>
          <p:cNvSpPr/>
          <p:nvPr/>
        </p:nvSpPr>
        <p:spPr>
          <a:xfrm>
            <a:off x="147239" y="702000"/>
            <a:ext cx="9526848" cy="48083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Modelo Termodinâmico GPSWAT</a:t>
            </a:r>
          </a:p>
          <a:p>
            <a:pPr>
              <a:lnSpc>
                <a:spcPct val="100000"/>
              </a:lnSpc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Componentes e Reações Consideradas: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4EEA6C-50A2-B98E-58F3-5B7F47E19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632" y="2043814"/>
            <a:ext cx="3206512" cy="19854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C5503D-3277-96DF-9BF1-826A90C3E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482" y="2131597"/>
            <a:ext cx="2408504" cy="179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74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714"/>
    </mc:Choice>
    <mc:Fallback xmlns="">
      <p:transition spd="slow" advTm="5471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33B80-DAD5-13D1-BA38-802CD0CD8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>
            <a:extLst>
              <a:ext uri="{FF2B5EF4-FFF2-40B4-BE49-F238E27FC236}">
                <a16:creationId xmlns:a16="http://schemas.microsoft.com/office/drawing/2014/main" id="{02C65929-4A69-156C-C959-AD5847EA1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5EFAF20-EE8D-D54B-D86C-1582919F0463}"/>
              </a:ext>
            </a:extLst>
          </p:cNvPr>
          <p:cNvSpPr/>
          <p:nvPr/>
        </p:nvSpPr>
        <p:spPr>
          <a:xfrm>
            <a:off x="147239" y="702000"/>
            <a:ext cx="9526848" cy="48083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Modelo Termodinâmico GPSWAT</a:t>
            </a:r>
          </a:p>
          <a:p>
            <a:pPr>
              <a:lnSpc>
                <a:spcPct val="100000"/>
              </a:lnSpc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Limites de aplicabilidade: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0000"/>
                </a:solidFill>
                <a:latin typeface="Arial"/>
                <a:ea typeface="Microsoft YaHei"/>
              </a:rPr>
              <a:t>Adequação ao presente trabalho: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A1DA39-FE40-9B22-6C8F-91DE9C242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86" y="1697820"/>
            <a:ext cx="4641190" cy="1609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27E3F2-2F15-6CFF-844A-DC6F24983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3852108"/>
            <a:ext cx="8486437" cy="136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827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714"/>
    </mc:Choice>
    <mc:Fallback xmlns="">
      <p:transition spd="slow" advTm="5471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158759" y="779040"/>
            <a:ext cx="8114731" cy="473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Estratégia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de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simulação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342900" indent="-342900">
              <a:lnSpc>
                <a:spcPct val="100000"/>
              </a:lnSpc>
              <a:buClr>
                <a:srgbClr val="000000"/>
              </a:buClr>
              <a:buSzPct val="45000"/>
              <a:buAutoNum type="arabicPeriod"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CDEE37-55AE-1974-ACD1-CCEE635A2DFC}"/>
              </a:ext>
            </a:extLst>
          </p:cNvPr>
          <p:cNvSpPr txBox="1"/>
          <p:nvPr/>
        </p:nvSpPr>
        <p:spPr>
          <a:xfrm>
            <a:off x="568755" y="1528204"/>
            <a:ext cx="6270955" cy="152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1.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Desenvolvimento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do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modelo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estático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em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Aspen Plus V14</a:t>
            </a:r>
          </a:p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2.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Análise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de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Sensibilidade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r>
              <a:rPr lang="en-US" sz="1600" dirty="0">
                <a:solidFill>
                  <a:srgbClr val="000000"/>
                </a:solidFill>
                <a:latin typeface="Arial"/>
                <a:ea typeface="Microsoft YaHei"/>
              </a:rPr>
              <a:t>3. </a:t>
            </a:r>
            <a:r>
              <a:rPr lang="en-US" sz="1600" dirty="0" err="1">
                <a:solidFill>
                  <a:srgbClr val="000000"/>
                </a:solidFill>
                <a:latin typeface="Arial"/>
                <a:ea typeface="Microsoft YaHei"/>
              </a:rPr>
              <a:t>Exportação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Microsoft YaHei"/>
              </a:rPr>
              <a:t> dos dados</a:t>
            </a:r>
          </a:p>
          <a:p>
            <a:pPr>
              <a:lnSpc>
                <a:spcPct val="150000"/>
              </a:lnSpc>
              <a:buClr>
                <a:srgbClr val="000000"/>
              </a:buClr>
              <a:buSzPct val="45000"/>
            </a:pP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4.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Análise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e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interpretação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dos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resultados</a:t>
            </a:r>
            <a:r>
              <a:rPr lang="en-US" sz="16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lang="en-US" sz="16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obtidos</a:t>
            </a:r>
            <a:endParaRPr lang="en-US" sz="16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873"/>
    </mc:Choice>
    <mc:Fallback xmlns="">
      <p:transition spd="slow" advTm="2187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CFD7D-4452-6D9F-FB33-B3DCCCB1B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671742D5-A834-6E02-2566-1F87C4C2A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6DF09DF6-9D92-0AD2-B74E-67FDFE87298C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Bloco: RadFrac</a:t>
            </a: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D81A21-652A-600D-9494-897D96848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203" y="1828430"/>
            <a:ext cx="7354326" cy="2953162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D2FC122-4CB1-A5D6-B2F3-72C2F176F899}"/>
              </a:ext>
            </a:extLst>
          </p:cNvPr>
          <p:cNvCxnSpPr>
            <a:cxnSpLocks/>
          </p:cNvCxnSpPr>
          <p:nvPr/>
        </p:nvCxnSpPr>
        <p:spPr>
          <a:xfrm>
            <a:off x="1550821" y="3213547"/>
            <a:ext cx="980238" cy="0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03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9AAEF-E3FB-6EF2-8707-1BC77DF9A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0651A4B9-DF17-13DC-E003-18C370EFF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E858C1ED-812D-1B72-F9B1-F989042C0F4D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Bloco: RadFrac</a:t>
            </a: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FF91BD-52A5-AEB8-411F-C40931B1F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70" y="1907374"/>
            <a:ext cx="9431130" cy="185580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AFD4B4F-596C-789F-846A-C628CCCD84C7}"/>
              </a:ext>
            </a:extLst>
          </p:cNvPr>
          <p:cNvCxnSpPr>
            <a:cxnSpLocks/>
          </p:cNvCxnSpPr>
          <p:nvPr/>
        </p:nvCxnSpPr>
        <p:spPr>
          <a:xfrm>
            <a:off x="3511295" y="3732926"/>
            <a:ext cx="475488" cy="0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4C94D7-8FB4-02D9-B503-E88525746D83}"/>
              </a:ext>
            </a:extLst>
          </p:cNvPr>
          <p:cNvCxnSpPr>
            <a:cxnSpLocks/>
          </p:cNvCxnSpPr>
          <p:nvPr/>
        </p:nvCxnSpPr>
        <p:spPr>
          <a:xfrm>
            <a:off x="1330146" y="2195515"/>
            <a:ext cx="564491" cy="0"/>
          </a:xfrm>
          <a:prstGeom prst="line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683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/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 – Bloco RadFrac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CD598A-4C7A-46A2-B20B-3F2EDA0D9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5" y="1404026"/>
            <a:ext cx="2389205" cy="8285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E5512E-D070-3660-8734-BD1447A4D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5" y="2127175"/>
            <a:ext cx="3544718" cy="2322956"/>
          </a:xfrm>
          <a:prstGeom prst="rect">
            <a:avLst/>
          </a:prstGeom>
        </p:spPr>
      </p:pic>
      <p:pic>
        <p:nvPicPr>
          <p:cNvPr id="13" name="Picture 1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67D5A5E0-0D71-27F0-AFBE-478CAFD815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320" y="779040"/>
            <a:ext cx="3200573" cy="43515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1FC6A-6733-6542-FDFF-0E5CB846D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A991B001-ADE1-F8CD-7600-805AB81F6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A9785221-1CB8-0C43-2B3A-6BDA15D50ED9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 – Bloco RadFrac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D55762-F73D-DC96-9AC5-EA56A44AC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" y="1346193"/>
            <a:ext cx="5981458" cy="17287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21338F-2429-1ADB-4839-FE2F42DFB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28727"/>
            <a:ext cx="5795188" cy="157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49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B5467-507D-2C64-66E6-58F308122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9C0EE5FF-D871-1222-3B01-3114AF7E7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E141E2CA-57EF-440C-CDC7-2D3C0286D187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 – Bloco RadFrac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pic>
        <p:nvPicPr>
          <p:cNvPr id="4" name="Picture 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8A0294EE-08B7-EBC5-404C-35B5D44F8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25" y="1290772"/>
            <a:ext cx="4301375" cy="3600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C52187-E277-FA89-EAA9-AF8549138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5263" y="1550083"/>
            <a:ext cx="5206602" cy="308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932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91332-845A-E019-2687-FE35583FD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E234ABE8-3D14-95FE-B55C-6617B5334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E5B3A808-FB5B-A7D5-4E2E-E2DD6495F732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 – Bloco RadFrac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CB7677-36C7-6167-CCD0-D1B2A2D5E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74" y="1584829"/>
            <a:ext cx="4124276" cy="28978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F5F7C5-A4B6-A021-C471-D070B415B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836" y="1483925"/>
            <a:ext cx="3987715" cy="322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820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8B6D9-41D0-5D16-7CF6-BA867AEFC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07446A62-4841-DF95-A69A-882170C07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9DE23FB9-4D8F-AE7D-9309-9A012F979A45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 – Bloco RadFrac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C98EF7-2B2B-BC25-D75D-A441BDF71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68" y="1526791"/>
            <a:ext cx="4012003" cy="31816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C0F2E3-804A-6CD3-FE8F-5C43640F5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436" y="1412402"/>
            <a:ext cx="5401429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79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1C676-C26A-35FB-4A2E-5956A1F9C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D43094CF-4D06-C35E-4F24-2EF990D1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A475B323-D946-7ECB-D8A9-ADBEAE1D8A49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 – Utilidades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4C083A-9903-2CAB-65A9-0BF2F9554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25" y="1243312"/>
            <a:ext cx="4894540" cy="40735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0B7963-BD43-D248-1514-6E336B52B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7030" y="1911133"/>
            <a:ext cx="4681708" cy="231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848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746F1-4E74-57CE-B180-B30F44B62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55F76B10-273A-672A-6147-C6BC825EA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83F55179-ED3E-F077-A1F5-21B11492D72F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 – Utilidades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EB8F3E-B188-F8A4-E0EA-B6CB2F8BD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1184393"/>
            <a:ext cx="4307208" cy="41169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1274E3-4026-3F1E-FE0C-878094A31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541" y="1702925"/>
            <a:ext cx="4526739" cy="266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388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FA424-886C-811F-DC87-A57E07CA4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0761E8AE-D40F-FEF3-4F81-0B37E6A21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585C6AE8-F1D7-313F-666E-664E9998BFF2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 – Módulo de análise de sensibilidade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9EBC43-8BE8-1C98-091C-EB36E70A9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243" y="1230300"/>
            <a:ext cx="6745251" cy="414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662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5D973-3207-1EA8-1887-2724B26D6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08E1EF3F-A028-CB4E-D5CA-1AE3EB5A3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D5489CC3-A2E7-CA71-93FC-DDA3A63DF1FB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Configuração do modelo – Módulo de análise de sensibilidade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776BC1-1890-0D62-C1B9-C6C80A8D4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1405615"/>
            <a:ext cx="4727993" cy="39336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CD7538-7985-B24E-A724-73F84B4B6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233" y="1285603"/>
            <a:ext cx="3626816" cy="417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69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F01A3-23CA-C6B5-74DE-211CBA12E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8AB92D8F-7E16-FA78-2C70-EFA11C149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Metodologia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9B35447D-E591-7D30-F4D3-CCB0EAA088C1}"/>
              </a:ext>
            </a:extLst>
          </p:cNvPr>
          <p:cNvSpPr/>
          <p:nvPr/>
        </p:nvSpPr>
        <p:spPr>
          <a:xfrm>
            <a:off x="158760" y="779040"/>
            <a:ext cx="9651240" cy="39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Casos de estudo:</a:t>
            </a:r>
            <a:endParaRPr lang="pt-BR" dirty="0">
              <a:solidFill>
                <a:srgbClr val="000000"/>
              </a:solidFill>
              <a:latin typeface="Arial"/>
              <a:ea typeface="Microsoft YaHe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5086B4-1282-01BD-75BC-0771F9B7D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" y="1538267"/>
            <a:ext cx="6554213" cy="207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092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05CF1-E2E3-D0C2-E5E6-20320CC3D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3D577D84-EA22-219B-D75E-378EAB538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Resultados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60794A-3236-671A-60ED-598C752A6AE6}"/>
              </a:ext>
            </a:extLst>
          </p:cNvPr>
          <p:cNvSpPr txBox="1"/>
          <p:nvPr/>
        </p:nvSpPr>
        <p:spPr>
          <a:xfrm>
            <a:off x="7387301" y="2112000"/>
            <a:ext cx="26933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1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Caso 1: H2S 3500 ppm, NH3 3000 ppm</a:t>
            </a: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100" dirty="0">
                <a:solidFill>
                  <a:srgbClr val="000000"/>
                </a:solidFill>
                <a:latin typeface="Arial"/>
                <a:ea typeface="Microsoft YaHei"/>
              </a:rPr>
              <a:t>Caso 2: H2S 1750 ppm, NH3 3000 ppm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1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Caso 3: </a:t>
            </a:r>
            <a:r>
              <a:rPr lang="pt-BR" sz="1100" dirty="0">
                <a:solidFill>
                  <a:srgbClr val="000000"/>
                </a:solidFill>
                <a:ea typeface="Microsoft YaHei"/>
              </a:rPr>
              <a:t>H2S 3500 ppm, NH3 1500 ppm</a:t>
            </a:r>
            <a:endParaRPr lang="pt-BR" sz="11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100" dirty="0">
                <a:solidFill>
                  <a:srgbClr val="000000"/>
                </a:solidFill>
                <a:latin typeface="Arial"/>
                <a:ea typeface="Microsoft YaHei"/>
              </a:rPr>
              <a:t>Caso 4</a:t>
            </a:r>
            <a:r>
              <a:rPr lang="pt-BR" sz="1100" dirty="0">
                <a:solidFill>
                  <a:srgbClr val="000000"/>
                </a:solidFill>
                <a:ea typeface="Microsoft YaHei"/>
              </a:rPr>
              <a:t>: H2S 1750 ppm, NH3 1500 ppm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100" dirty="0">
                <a:solidFill>
                  <a:srgbClr val="000000"/>
                </a:solidFill>
                <a:ea typeface="Microsoft YaHei"/>
              </a:rPr>
              <a:t>Caso 5: Vazão alim. em 95%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100" dirty="0">
                <a:solidFill>
                  <a:srgbClr val="000000"/>
                </a:solidFill>
                <a:ea typeface="Microsoft YaHei"/>
              </a:rPr>
              <a:t>Caso 6: Vazão alim. em 105%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100" dirty="0">
                <a:solidFill>
                  <a:srgbClr val="000000"/>
                </a:solidFill>
                <a:ea typeface="Microsoft YaHei"/>
              </a:rPr>
              <a:t>Caso 7: Temp. alim, em 97,5%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100" dirty="0">
                <a:solidFill>
                  <a:srgbClr val="000000"/>
                </a:solidFill>
                <a:ea typeface="Microsoft YaHei"/>
              </a:rPr>
              <a:t>Caso 8: Temp. alim. em 102,5%</a:t>
            </a:r>
          </a:p>
        </p:txBody>
      </p:sp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3C22D1BA-BBB4-C4FD-DFCB-FCBFC09851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5257"/>
            <a:ext cx="7365076" cy="441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45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563E7-C864-78E4-BBB1-A2F6DDEBE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6C7D35B5-731A-2F83-F869-2EF2C5854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Resultados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1BD6D-9E7E-884D-D307-F505B0814606}"/>
              </a:ext>
            </a:extLst>
          </p:cNvPr>
          <p:cNvSpPr txBox="1"/>
          <p:nvPr/>
        </p:nvSpPr>
        <p:spPr>
          <a:xfrm>
            <a:off x="7099069" y="2050445"/>
            <a:ext cx="29855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1: H2S 3500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3000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2: H2S 1750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3000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3: H2S 3500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1500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4: H2S 1750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1500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5: Vazão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95%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6: Vazão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105%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7: Temp.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em 97,5%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8: Temp.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102,5%</a:t>
            </a:r>
          </a:p>
        </p:txBody>
      </p:sp>
    </p:spTree>
    <p:extLst>
      <p:ext uri="{BB962C8B-B14F-4D97-AF65-F5344CB8AC3E}">
        <p14:creationId xmlns:p14="http://schemas.microsoft.com/office/powerpoint/2010/main" val="418173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98705-A191-2E4E-AF75-3014B2AF0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089313B5-96FA-0172-9167-C682315A9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Resultados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530221-21F7-DA1E-0BB4-F690709322BE}"/>
              </a:ext>
            </a:extLst>
          </p:cNvPr>
          <p:cNvSpPr txBox="1"/>
          <p:nvPr/>
        </p:nvSpPr>
        <p:spPr>
          <a:xfrm>
            <a:off x="7099069" y="2050445"/>
            <a:ext cx="29855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1: H2S 3500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3000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2: H2S 1750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3000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3: H2S 3500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1500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4: H2S 1750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1500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5: Vazão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95%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6: Vazão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105%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7: Temp.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em 97,5%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8: Temp.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102,5%</a:t>
            </a:r>
          </a:p>
        </p:txBody>
      </p:sp>
    </p:spTree>
    <p:extLst>
      <p:ext uri="{BB962C8B-B14F-4D97-AF65-F5344CB8AC3E}">
        <p14:creationId xmlns:p14="http://schemas.microsoft.com/office/powerpoint/2010/main" val="705273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C4C1E-7618-B73B-1EA1-42F31C8B3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97F8C530-CB5C-B898-E4EC-20853AAA8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Resultados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7BB87F-61A7-C93E-218D-487A1FBFD093}"/>
              </a:ext>
            </a:extLst>
          </p:cNvPr>
          <p:cNvSpPr txBox="1"/>
          <p:nvPr/>
        </p:nvSpPr>
        <p:spPr>
          <a:xfrm>
            <a:off x="7099069" y="2050445"/>
            <a:ext cx="29855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1: H2S 3500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3000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2: H2S 1750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3000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3: H2S 3500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1500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4: H2S 1750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1500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5: Vazão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95%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6: Vazão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105%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7: Temp.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em 97,5%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8: Temp.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102,5%</a:t>
            </a:r>
          </a:p>
          <a:p>
            <a:pPr>
              <a:buClr>
                <a:srgbClr val="000000"/>
              </a:buClr>
              <a:buSzPct val="45000"/>
            </a:pPr>
            <a:endParaRPr lang="pt-BR" sz="1200" dirty="0">
              <a:solidFill>
                <a:srgbClr val="000000"/>
              </a:solidFill>
              <a:ea typeface="Microsoft YaHei"/>
            </a:endParaRPr>
          </a:p>
        </p:txBody>
      </p:sp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E5A7DE82-523B-1C04-7AD1-7C23AD25EC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8231"/>
            <a:ext cx="7188088" cy="431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12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CAB58-AEFF-5436-B565-C0D97CFF1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3D3D864F-D008-743D-1DB0-83CF5A460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Resultados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A3303-BE91-1BD5-058B-E25F97693C41}"/>
              </a:ext>
            </a:extLst>
          </p:cNvPr>
          <p:cNvSpPr txBox="1"/>
          <p:nvPr/>
        </p:nvSpPr>
        <p:spPr>
          <a:xfrm>
            <a:off x="7099069" y="2050445"/>
            <a:ext cx="29855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1: H2S 3500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3000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2: H2S 1750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3000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3: H2S 3500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1500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4: H2S 1750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1500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5: Vazão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95%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6: Vazão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105%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7: Temp.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em 97,5%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8: Temp.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102,5%</a:t>
            </a:r>
          </a:p>
        </p:txBody>
      </p:sp>
      <p:pic>
        <p:nvPicPr>
          <p:cNvPr id="4" name="Picture 3" descr="A graph of a number of different colored lines&#10;&#10;AI-generated content may be incorrect.">
            <a:extLst>
              <a:ext uri="{FF2B5EF4-FFF2-40B4-BE49-F238E27FC236}">
                <a16:creationId xmlns:a16="http://schemas.microsoft.com/office/drawing/2014/main" id="{9AD99475-AECC-6943-096F-19484F2134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5467"/>
            <a:ext cx="7099069" cy="44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128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ED64F-4B0C-5092-1E76-2A773B92E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858848C7-9300-0A04-648C-CC242B340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Resultados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035B08-DFA8-7F34-63E2-64F4BC2798C1}"/>
              </a:ext>
            </a:extLst>
          </p:cNvPr>
          <p:cNvSpPr txBox="1"/>
          <p:nvPr/>
        </p:nvSpPr>
        <p:spPr>
          <a:xfrm>
            <a:off x="7099069" y="2050445"/>
            <a:ext cx="29855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1: H2S 3500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3000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2: H2S 1750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3000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3: H2S 3500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1500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4: H2S 1750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1500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5: Vazão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95%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6: Vazão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105%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7: Temp.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em 97,5%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8: Temp.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102,5%</a:t>
            </a:r>
          </a:p>
        </p:txBody>
      </p:sp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57A64A4A-2C4F-1D2F-482E-6FE7B8BA9D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2026"/>
            <a:ext cx="7154588" cy="447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6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9B41D-9F0F-A26E-4C1F-8D7A37716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1CFE2ED3-94BE-D689-3F30-8B5EE754C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Resultados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89DB4B-213C-F35E-50A7-EBFD62F1928A}"/>
              </a:ext>
            </a:extLst>
          </p:cNvPr>
          <p:cNvSpPr txBox="1"/>
          <p:nvPr/>
        </p:nvSpPr>
        <p:spPr>
          <a:xfrm>
            <a:off x="7099069" y="2050445"/>
            <a:ext cx="29855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1: H2S 3500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3000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2: H2S 1750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3000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3: H2S 3500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1500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4: H2S 1750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1500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5: Vazão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95%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6: Vazão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105%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7: Temp.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em 97,5%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8: Temp.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102,5%</a:t>
            </a:r>
          </a:p>
        </p:txBody>
      </p:sp>
      <p:pic>
        <p:nvPicPr>
          <p:cNvPr id="3" name="Picture 2" descr="A graph of a number of different colored lines&#10;&#10;AI-generated content may be incorrect.">
            <a:extLst>
              <a:ext uri="{FF2B5EF4-FFF2-40B4-BE49-F238E27FC236}">
                <a16:creationId xmlns:a16="http://schemas.microsoft.com/office/drawing/2014/main" id="{8AAC1E56-71E9-F237-E791-D726B7E16A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7659"/>
            <a:ext cx="7078025" cy="424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85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E87A8-8748-6B6F-AE78-DCC5DB295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A41FF296-2788-FF94-F5E9-00E06ACFC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Resultados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EB14F9-29E3-0CC2-484F-CCBD06914F58}"/>
              </a:ext>
            </a:extLst>
          </p:cNvPr>
          <p:cNvSpPr txBox="1"/>
          <p:nvPr/>
        </p:nvSpPr>
        <p:spPr>
          <a:xfrm>
            <a:off x="7099069" y="2050445"/>
            <a:ext cx="29855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1: H2S 3500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3000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2: H2S 1750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3000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3: H2S 3500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1500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4: H2S 1750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1500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5: Vazão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95%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6: Vazão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105%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7: Temp.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em 97,5%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8: Temp.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102,5%</a:t>
            </a:r>
          </a:p>
        </p:txBody>
      </p:sp>
      <p:pic>
        <p:nvPicPr>
          <p:cNvPr id="3" name="Picture 2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F6B150BD-D02A-5577-1BD2-D81DE6CF05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4283"/>
            <a:ext cx="6994985" cy="437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1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97D0A-58F2-9AF9-44E5-7EA01C15D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>
            <a:extLst>
              <a:ext uri="{FF2B5EF4-FFF2-40B4-BE49-F238E27FC236}">
                <a16:creationId xmlns:a16="http://schemas.microsoft.com/office/drawing/2014/main" id="{7EDEDF02-627B-7E8B-60B7-F46000280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Resultados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134B71-BB6D-EC53-567F-3ACD0F5638D9}"/>
              </a:ext>
            </a:extLst>
          </p:cNvPr>
          <p:cNvSpPr txBox="1"/>
          <p:nvPr/>
        </p:nvSpPr>
        <p:spPr>
          <a:xfrm>
            <a:off x="7099069" y="2050445"/>
            <a:ext cx="29855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1: H2S 3500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3000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2: H2S 1750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3000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3: H2S 3500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1500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4: H2S 1750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NH3 1500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ppm</a:t>
            </a:r>
            <a:endParaRPr lang="pt-BR" sz="1200" dirty="0">
              <a:solidFill>
                <a:srgbClr val="000000"/>
              </a:solidFill>
              <a:ea typeface="Microsoft YaHei"/>
            </a:endParaRP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5: Vazão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95%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6: Vazão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105%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7: Temp.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, em 97,5%</a:t>
            </a:r>
          </a:p>
          <a:p>
            <a:pPr>
              <a:buClr>
                <a:srgbClr val="000000"/>
              </a:buClr>
              <a:buSzPct val="45000"/>
            </a:pPr>
            <a:r>
              <a:rPr lang="pt-BR" sz="1200" dirty="0">
                <a:solidFill>
                  <a:srgbClr val="000000"/>
                </a:solidFill>
                <a:ea typeface="Microsoft YaHei"/>
              </a:rPr>
              <a:t>Caso 8: Temp. </a:t>
            </a:r>
            <a:r>
              <a:rPr lang="pt-BR" sz="1200" dirty="0" err="1">
                <a:solidFill>
                  <a:srgbClr val="000000"/>
                </a:solidFill>
                <a:ea typeface="Microsoft YaHei"/>
              </a:rPr>
              <a:t>alim</a:t>
            </a:r>
            <a:r>
              <a:rPr lang="pt-BR" sz="1200" dirty="0">
                <a:solidFill>
                  <a:srgbClr val="000000"/>
                </a:solidFill>
                <a:ea typeface="Microsoft YaHei"/>
              </a:rPr>
              <a:t>. em 102,5%</a:t>
            </a:r>
          </a:p>
        </p:txBody>
      </p:sp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A6E44843-3663-28D5-55D8-7AB21809E0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2089"/>
            <a:ext cx="7099069" cy="44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753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26"/>
    </mc:Choice>
    <mc:Fallback xmlns="">
      <p:transition spd="slow" advTm="30626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>
                <a:solidFill>
                  <a:srgbClr val="000000"/>
                </a:solidFill>
                <a:uFillTx/>
                <a:latin typeface="Arial"/>
              </a:rPr>
              <a:t>Conclusões</a:t>
            </a: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Retângulo 109"/>
          <p:cNvSpPr/>
          <p:nvPr/>
        </p:nvSpPr>
        <p:spPr>
          <a:xfrm>
            <a:off x="564840" y="1002599"/>
            <a:ext cx="8433000" cy="41619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Excelente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seletividade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de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remoção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de H2S –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Projeto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validado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Identificação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de 2 regimes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operacionais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lang="en-US" sz="1800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distintos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:</a:t>
            </a: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b="0" u="none" strike="noStrike" dirty="0">
                <a:solidFill>
                  <a:srgbClr val="000000"/>
                </a:solidFill>
                <a:uFillTx/>
                <a:latin typeface="Arial"/>
              </a:rPr>
              <a:t>Alta </a:t>
            </a:r>
            <a:r>
              <a:rPr lang="en-US" b="0" u="none" strike="noStrike" dirty="0" err="1">
                <a:solidFill>
                  <a:srgbClr val="000000"/>
                </a:solidFill>
                <a:uFillTx/>
                <a:latin typeface="Arial"/>
              </a:rPr>
              <a:t>sensibilidade</a:t>
            </a:r>
            <a:r>
              <a:rPr lang="en-US" b="0" u="none" strike="noStrike" dirty="0">
                <a:solidFill>
                  <a:srgbClr val="000000"/>
                </a:solidFill>
                <a:uFillTx/>
                <a:latin typeface="Arial"/>
              </a:rPr>
              <a:t> </a:t>
            </a:r>
            <a:r>
              <a:rPr lang="en-US" b="0" u="none" strike="noStrike" dirty="0" err="1">
                <a:solidFill>
                  <a:srgbClr val="000000"/>
                </a:solidFill>
                <a:uFillTx/>
                <a:latin typeface="Arial"/>
              </a:rPr>
              <a:t>térmica</a:t>
            </a:r>
            <a:r>
              <a:rPr lang="en-US" b="0" u="none" strike="noStrike" dirty="0">
                <a:solidFill>
                  <a:srgbClr val="000000"/>
                </a:solidFill>
                <a:uFillTx/>
                <a:latin typeface="Arial"/>
              </a:rPr>
              <a:t> – </a:t>
            </a:r>
            <a:r>
              <a:rPr lang="en-US" b="0" u="none" strike="noStrike" dirty="0" err="1">
                <a:solidFill>
                  <a:srgbClr val="000000"/>
                </a:solidFill>
                <a:uFillTx/>
                <a:latin typeface="Arial"/>
              </a:rPr>
              <a:t>aumento</a:t>
            </a:r>
            <a:r>
              <a:rPr lang="en-US" b="0" u="none" strike="noStrike" dirty="0">
                <a:solidFill>
                  <a:srgbClr val="000000"/>
                </a:solidFill>
                <a:uFillTx/>
                <a:latin typeface="Arial"/>
              </a:rPr>
              <a:t> </a:t>
            </a:r>
            <a:r>
              <a:rPr lang="en-US" b="0" u="none" strike="noStrike" dirty="0" err="1">
                <a:solidFill>
                  <a:srgbClr val="000000"/>
                </a:solidFill>
                <a:uFillTx/>
                <a:latin typeface="Arial"/>
              </a:rPr>
              <a:t>recuperação</a:t>
            </a:r>
            <a:r>
              <a:rPr lang="en-US" b="0" u="none" strike="noStrike" dirty="0">
                <a:solidFill>
                  <a:srgbClr val="000000"/>
                </a:solidFill>
                <a:uFillTx/>
                <a:latin typeface="Arial"/>
              </a:rPr>
              <a:t> de H2S</a:t>
            </a: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dirty="0">
                <a:solidFill>
                  <a:srgbClr val="000000"/>
                </a:solidFill>
                <a:latin typeface="Arial"/>
              </a:rPr>
              <a:t>Baixa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sensibilidade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térmica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–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após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recuperação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completa de H2S</a:t>
            </a: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dirty="0" err="1">
                <a:solidFill>
                  <a:srgbClr val="000000"/>
                </a:solidFill>
                <a:latin typeface="Arial"/>
              </a:rPr>
              <a:t>Razão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H2S/NH3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mostrou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-se ser um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parâmetro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importante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a ser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melhor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investigado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para a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determinação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das curvas do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sistema</a:t>
            </a:r>
            <a:endParaRPr lang="en-US" dirty="0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dirty="0" err="1">
                <a:solidFill>
                  <a:srgbClr val="000000"/>
                </a:solidFill>
                <a:latin typeface="Arial"/>
              </a:rPr>
              <a:t>Ganho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estático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entre carga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térmica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refervedor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x temp. topo se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mantém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apesar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dos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deslocamento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das curvas para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todos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os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</a:rPr>
              <a:t>casos</a:t>
            </a:r>
            <a:endParaRPr lang="en-US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337"/>
    </mc:Choice>
    <mc:Fallback xmlns="">
      <p:transition spd="slow" advTm="108337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04000" y="160200"/>
            <a:ext cx="9071280" cy="45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Sugest</a:t>
            </a:r>
            <a:r>
              <a:rPr lang="pt-BR" sz="3200" dirty="0">
                <a:solidFill>
                  <a:srgbClr val="000000"/>
                </a:solidFill>
                <a:latin typeface="Arial"/>
              </a:rPr>
              <a:t>ões para t</a:t>
            </a:r>
            <a:r>
              <a:rPr lang="pt-BR" sz="3200" b="0" u="none" strike="noStrike" dirty="0">
                <a:solidFill>
                  <a:srgbClr val="000000"/>
                </a:solidFill>
                <a:uFillTx/>
                <a:latin typeface="Arial"/>
              </a:rPr>
              <a:t>rabalhos futuros</a:t>
            </a:r>
            <a:endParaRPr lang="en-US" sz="32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Retângulo 111"/>
          <p:cNvSpPr/>
          <p:nvPr/>
        </p:nvSpPr>
        <p:spPr>
          <a:xfrm>
            <a:off x="706680" y="1377360"/>
            <a:ext cx="8433000" cy="35750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Converter a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simulação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para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dinâmica</a:t>
            </a:r>
            <a:endParaRPr lang="en-US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b="0" u="none" strike="noStrike" dirty="0">
              <a:solidFill>
                <a:srgbClr val="000000"/>
              </a:solidFill>
              <a:uFillTx/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Estudar</a:t>
            </a:r>
            <a:r>
              <a:rPr lang="en-US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a </a:t>
            </a:r>
            <a:r>
              <a:rPr lang="en-US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resposta</a:t>
            </a:r>
            <a:r>
              <a:rPr lang="en-US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lang="en-US" b="0" u="none" strike="noStrike" dirty="0" err="1">
                <a:solidFill>
                  <a:srgbClr val="000000"/>
                </a:solidFill>
                <a:uFillTx/>
                <a:latin typeface="Arial"/>
                <a:ea typeface="Microsoft YaHei"/>
              </a:rPr>
              <a:t>dinâmica</a:t>
            </a:r>
            <a:r>
              <a:rPr lang="en-US" b="0" u="none" strike="noStrike" dirty="0">
                <a:solidFill>
                  <a:srgbClr val="000000"/>
                </a:solidFill>
                <a:uFillTx/>
                <a:latin typeface="Arial"/>
                <a:ea typeface="Microsoft YaHei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para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os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casos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propostos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da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simulação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estática</a:t>
            </a:r>
            <a:endParaRPr lang="en-US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Levantar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dados dessas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respostas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para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treinamento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de rede neural e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agente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aprendizado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por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reforço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para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realizar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controle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focado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na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recuperação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máxima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de H2S e </a:t>
            </a:r>
            <a:r>
              <a:rPr lang="en-US" dirty="0" err="1">
                <a:solidFill>
                  <a:srgbClr val="000000"/>
                </a:solidFill>
                <a:latin typeface="Arial"/>
                <a:ea typeface="Microsoft YaHei"/>
              </a:rPr>
              <a:t>perda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</a:t>
            </a:r>
            <a:r>
              <a:rPr lang="en-US">
                <a:solidFill>
                  <a:srgbClr val="000000"/>
                </a:solidFill>
                <a:latin typeface="Arial"/>
                <a:ea typeface="Microsoft YaHei"/>
              </a:rPr>
              <a:t>mínima</a:t>
            </a:r>
            <a:r>
              <a:rPr lang="en-US" dirty="0">
                <a:solidFill>
                  <a:srgbClr val="000000"/>
                </a:solidFill>
                <a:latin typeface="Arial"/>
                <a:ea typeface="Microsoft YaHei"/>
              </a:rPr>
              <a:t> de NH3</a:t>
            </a: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dirty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673200" lvl="1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lvl="1">
              <a:buClr>
                <a:srgbClr val="000000"/>
              </a:buClr>
              <a:buSzPct val="45000"/>
            </a:pPr>
            <a:endParaRPr lang="en-US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041"/>
    </mc:Choice>
    <mc:Fallback xmlns="">
      <p:transition spd="slow" advTm="132041"/>
    </mc:Fallback>
  </mc:AlternateContent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1769</TotalTime>
  <Words>1439</Words>
  <Application>Microsoft Office PowerPoint</Application>
  <PresentationFormat>Custom</PresentationFormat>
  <Paragraphs>214</Paragraphs>
  <Slides>30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Microsoft YaHei</vt:lpstr>
      <vt:lpstr>Aptos</vt:lpstr>
      <vt:lpstr>Arial</vt:lpstr>
      <vt:lpstr>Symbol</vt:lpstr>
      <vt:lpstr>Times New Roman</vt:lpstr>
      <vt:lpstr>Trebuchet MS</vt:lpstr>
      <vt:lpstr>Wingdings</vt:lpstr>
      <vt:lpstr>Office</vt:lpstr>
      <vt:lpstr>Office</vt:lpstr>
      <vt:lpstr>EQE776 – Trabalho Final</vt:lpstr>
      <vt:lpstr>Introdução – Processo e Modelagem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Metodologia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Resultados</vt:lpstr>
      <vt:lpstr>Conclusões</vt:lpstr>
      <vt:lpstr>Sugestões para trabalhos futuros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Office</cp:lastModifiedBy>
  <cp:revision>61</cp:revision>
  <cp:lastPrinted>2024-09-23T20:36:17Z</cp:lastPrinted>
  <dcterms:created xsi:type="dcterms:W3CDTF">2024-09-18T10:11:45Z</dcterms:created>
  <dcterms:modified xsi:type="dcterms:W3CDTF">2025-12-08T16:19:45Z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Office:8\Office:3</vt:lpwstr>
  </property>
  <property fmtid="{D5CDD505-2E9C-101B-9397-08002B2CF9AE}" pid="3" name="ClassificationContentMarkingFooterText">
    <vt:lpwstr>PÚBLICA</vt:lpwstr>
  </property>
</Properties>
</file>